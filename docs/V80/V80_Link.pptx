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628728-7DAE-F852-C7C5-5FA3FE36BA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E090B74-30F2-6D7D-9FB6-6696A1A34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C4EE23-CB36-3FD9-A100-0BBE70A50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212B-C09D-48E7-AB7E-FC0CF8BA1AD3}" type="datetimeFigureOut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7461D9-20E5-546E-7968-6F69CBCD6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214707-58B9-3D35-F110-3F57CCD09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16A17-0EE5-421C-A8AC-194F6E683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0583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DFD305-4D1F-8137-6839-C684D2EE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3FECA8-41A8-33B7-F6D6-E0C656272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A650C9-F5A1-B455-2730-2B86D68B8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212B-C09D-48E7-AB7E-FC0CF8BA1AD3}" type="datetimeFigureOut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718A39-E910-13C3-CF63-3CD30D8BC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02E56F-40DB-E376-2A06-C44CDF47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16A17-0EE5-421C-A8AC-194F6E683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377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844F45-3854-963E-30E7-28668CF8A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B972813-BF93-127E-6A3C-A79AE6DDE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1D6DE4-0D8E-E098-8975-026B726BD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212B-C09D-48E7-AB7E-FC0CF8BA1AD3}" type="datetimeFigureOut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2917A99-487A-5DC2-E185-D283D1210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1C13EE-0CC2-D8B5-4B5B-E0297634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16A17-0EE5-421C-A8AC-194F6E683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228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D38A98-D5A9-960D-0E49-6F243CBE8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07B88B-9146-6BFB-2056-B78A5CA8E0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FA400C9-937C-173E-A81D-19129FA2A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4276A26-ACDE-A271-1DB2-45ED3E805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212B-C09D-48E7-AB7E-FC0CF8BA1AD3}" type="datetimeFigureOut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6F4497-B961-4702-8BC9-645B2957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2FA88A3-ECD9-514C-99B0-88B2C018A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16A17-0EE5-421C-A8AC-194F6E683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654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82F853-8FFF-DC40-081A-7EDB2693F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34F6882-B34D-625A-6D4C-F501EE331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0BC777F-5E25-2BF1-385E-D75158BDF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2CC7C4C-C3F1-7076-A1F7-5976F4C7C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9AB8737-030E-A5F8-ECEF-E65742CD5E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F2DD8E0-AEB1-EF93-211F-BFC8E1165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212B-C09D-48E7-AB7E-FC0CF8BA1AD3}" type="datetimeFigureOut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0C39341-968D-9F18-05AD-0E2DAD390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40C8278-DB5A-E01C-11B9-F24FF3550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16A17-0EE5-421C-A8AC-194F6E683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6860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D19082-F9EC-C4AF-D741-6FA11832B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159CFDC-FC9E-D1E8-7394-C4B8F07E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212B-C09D-48E7-AB7E-FC0CF8BA1AD3}" type="datetimeFigureOut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E6DB863-9AC4-FA83-F80C-86D8F8EE0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E056FE3-0AB8-E1E8-35E3-2D4151B9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16A17-0EE5-421C-A8AC-194F6E683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4982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26404F0-C5EF-1956-7F3F-E501004F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212B-C09D-48E7-AB7E-FC0CF8BA1AD3}" type="datetimeFigureOut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24CC74D-80C1-4585-C440-35CEED0F6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3EC860-F11B-B802-13F5-2F7D9B8F1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16A17-0EE5-421C-A8AC-194F6E683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101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D1BD86-9E10-FEA4-6EB4-67BA041E7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DFC421-D781-67BA-A93A-358AD1B50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55864E8-B1B9-F6E9-CA7A-CD9F4D9AD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E71BF85-05B0-CECA-A836-E2270E412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212B-C09D-48E7-AB7E-FC0CF8BA1AD3}" type="datetimeFigureOut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4D65AFD-C684-FE3D-C7A3-22FD49A17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3FFA6EA-F4EA-848F-176E-1F4B77944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16A17-0EE5-421C-A8AC-194F6E683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0274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A9C5E9-626F-C292-F499-BF561B33C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07BABF9-E51C-AC4B-DDE1-3905785270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68A08A1-CBE0-F179-4A68-499CD5A03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6827237-B628-6136-BC7E-F6733198F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212B-C09D-48E7-AB7E-FC0CF8BA1AD3}" type="datetimeFigureOut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46E5AA4-887F-83EE-3386-3001DA9BC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1C0746A-F5AD-38CE-ABC7-A07D45B15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16A17-0EE5-421C-A8AC-194F6E683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016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9C35BB-DC42-B7F3-3A1F-A789F6784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CE1E15B-D7EF-2B41-5A13-CFDB57889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8D1518-E343-5147-B300-855B6FF5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212B-C09D-48E7-AB7E-FC0CF8BA1AD3}" type="datetimeFigureOut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925D66-A793-E271-9A88-BA5C4F265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2FA89A-A44B-D2C7-B265-A5101846D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16A17-0EE5-421C-A8AC-194F6E683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8871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1841E8E-6AC4-3E2B-CDE8-3B9665F829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2F6E08E-E916-9AB4-F5ED-CE6F5834C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DCD3AF-5AB5-AE2C-EA2A-26BCA89B8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212B-C09D-48E7-AB7E-FC0CF8BA1AD3}" type="datetimeFigureOut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6E004B-0E42-E539-9300-1B9B8F4A1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E3443CF-704A-F46A-A8F9-AFAECF8E3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16A17-0EE5-421C-A8AC-194F6E683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40171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4621475-1545-8953-0601-BBC23136D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5F8A02-90D2-F192-72F9-9EEB9062A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2EDBB-ECDC-E4DD-BC52-F95CE26FFE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5212B-C09D-48E7-AB7E-FC0CF8BA1AD3}" type="datetimeFigureOut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D231CD-0A73-8ACC-B70E-7ECAB80BF2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0C07EE-AE42-C043-76FA-76A9004DB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16A17-0EE5-421C-A8AC-194F6E6831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462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513566B-566A-61BF-67C1-0813C0761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790260"/>
              </p:ext>
            </p:extLst>
          </p:nvPr>
        </p:nvGraphicFramePr>
        <p:xfrm>
          <a:off x="87086" y="728966"/>
          <a:ext cx="7139794" cy="1546860"/>
        </p:xfrm>
        <a:graphic>
          <a:graphicData uri="http://schemas.openxmlformats.org/drawingml/2006/table">
            <a:tbl>
              <a:tblPr/>
              <a:tblGrid>
                <a:gridCol w="1090824">
                  <a:extLst>
                    <a:ext uri="{9D8B030D-6E8A-4147-A177-3AD203B41FA5}">
                      <a16:colId xmlns:a16="http://schemas.microsoft.com/office/drawing/2014/main" val="1469702671"/>
                    </a:ext>
                  </a:extLst>
                </a:gridCol>
                <a:gridCol w="2029486">
                  <a:extLst>
                    <a:ext uri="{9D8B030D-6E8A-4147-A177-3AD203B41FA5}">
                      <a16:colId xmlns:a16="http://schemas.microsoft.com/office/drawing/2014/main" val="2445157398"/>
                    </a:ext>
                  </a:extLst>
                </a:gridCol>
                <a:gridCol w="2008912">
                  <a:extLst>
                    <a:ext uri="{9D8B030D-6E8A-4147-A177-3AD203B41FA5}">
                      <a16:colId xmlns:a16="http://schemas.microsoft.com/office/drawing/2014/main" val="1054099268"/>
                    </a:ext>
                  </a:extLst>
                </a:gridCol>
                <a:gridCol w="2010572">
                  <a:extLst>
                    <a:ext uri="{9D8B030D-6E8A-4147-A177-3AD203B41FA5}">
                      <a16:colId xmlns:a16="http://schemas.microsoft.com/office/drawing/2014/main" val="3292271380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比較維度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QSFP56 (DAC/AOC)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MCIO (Cable)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NVIDIA </a:t>
                      </a:r>
                      <a:r>
                        <a:rPr lang="en-US" sz="1200" dirty="0" err="1">
                          <a:effectLst/>
                        </a:rPr>
                        <a:t>NVLink</a:t>
                      </a:r>
                      <a:endParaRPr lang="en-US" sz="1200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128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物理層介面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4x QSFP56 </a:t>
                      </a:r>
                      <a:r>
                        <a:rPr lang="zh-TW" altLang="en-US" sz="1200" dirty="0">
                          <a:effectLst/>
                        </a:rPr>
                        <a:t>端口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>
                          <a:effectLst/>
                        </a:rPr>
                        <a:t>2x MCIO x4 + 1x MCIO x8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zh-TW" sz="1200">
                          <a:effectLst/>
                        </a:rPr>
                        <a:t>SXM </a:t>
                      </a:r>
                      <a:r>
                        <a:rPr lang="zh-TW" altLang="en-US" sz="1200">
                          <a:effectLst/>
                        </a:rPr>
                        <a:t>連結器或專屬 </a:t>
                      </a:r>
                      <a:r>
                        <a:rPr lang="en-US" altLang="zh-TW" sz="1200">
                          <a:effectLst/>
                        </a:rPr>
                        <a:t>Bridge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6346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zh-TW" altLang="en-US" sz="1200">
                          <a:effectLst/>
                        </a:rPr>
                        <a:t>核心協議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Ethernet / RoCE v2 / Aurora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PCIe Gen5 / Aurora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>
                          <a:effectLst/>
                        </a:rPr>
                        <a:t>NVLink </a:t>
                      </a:r>
                      <a:r>
                        <a:rPr lang="zh-TW" altLang="en-US" sz="1200">
                          <a:effectLst/>
                        </a:rPr>
                        <a:t>專有協議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0332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zh-TW" altLang="en-US" sz="1200">
                          <a:effectLst/>
                        </a:rPr>
                        <a:t>傳輸帶寬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200Gbps (</a:t>
                      </a:r>
                      <a:r>
                        <a:rPr lang="zh-TW" altLang="en-US" sz="1200" dirty="0">
                          <a:effectLst/>
                        </a:rPr>
                        <a:t>單向 </a:t>
                      </a:r>
                      <a:r>
                        <a:rPr lang="en-US" altLang="zh-TW" sz="1200" dirty="0">
                          <a:effectLst/>
                        </a:rPr>
                        <a:t>25</a:t>
                      </a:r>
                      <a:r>
                        <a:rPr lang="en-US" sz="1200" dirty="0">
                          <a:effectLst/>
                        </a:rPr>
                        <a:t>GB/s)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x8: 256Gbps (</a:t>
                      </a:r>
                      <a:r>
                        <a:rPr lang="zh-TW" altLang="en-US" sz="1200" dirty="0">
                          <a:effectLst/>
                        </a:rPr>
                        <a:t>單向 </a:t>
                      </a:r>
                      <a:r>
                        <a:rPr lang="en-US" altLang="zh-TW" sz="1200" dirty="0">
                          <a:effectLst/>
                        </a:rPr>
                        <a:t>32</a:t>
                      </a:r>
                      <a:r>
                        <a:rPr lang="en-US" sz="1200" dirty="0">
                          <a:effectLst/>
                        </a:rPr>
                        <a:t>GB/s)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900GB/s (H100)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05318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zh-TW" altLang="en-US" sz="1200">
                          <a:effectLst/>
                        </a:rPr>
                        <a:t>傳輸特性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zh-TW" altLang="en-US" sz="1200">
                          <a:effectLst/>
                        </a:rPr>
                        <a:t>全雙工 </a:t>
                      </a:r>
                      <a:r>
                        <a:rPr lang="en-US" altLang="zh-TW" sz="1200">
                          <a:effectLst/>
                        </a:rPr>
                        <a:t>(</a:t>
                      </a:r>
                      <a:r>
                        <a:rPr lang="zh-TW" altLang="en-US" sz="1200">
                          <a:effectLst/>
                        </a:rPr>
                        <a:t>同時進出</a:t>
                      </a:r>
                      <a:r>
                        <a:rPr lang="en-US" altLang="zh-TW" sz="1200">
                          <a:effectLst/>
                        </a:rPr>
                        <a:t>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全雙工 </a:t>
                      </a:r>
                      <a:r>
                        <a:rPr lang="en-US" altLang="zh-TW" sz="1200" dirty="0">
                          <a:effectLst/>
                        </a:rPr>
                        <a:t>(</a:t>
                      </a:r>
                      <a:r>
                        <a:rPr lang="zh-TW" altLang="en-US" sz="1200" dirty="0">
                          <a:effectLst/>
                        </a:rPr>
                        <a:t>同時進出</a:t>
                      </a:r>
                      <a:r>
                        <a:rPr lang="en-US" altLang="zh-TW" sz="1200" dirty="0">
                          <a:effectLst/>
                        </a:rPr>
                        <a:t>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全雙工 </a:t>
                      </a:r>
                      <a:r>
                        <a:rPr lang="en-US" altLang="zh-TW" sz="1200" dirty="0">
                          <a:effectLst/>
                        </a:rPr>
                        <a:t>(</a:t>
                      </a:r>
                      <a:r>
                        <a:rPr lang="zh-TW" altLang="en-US" sz="1200" dirty="0">
                          <a:effectLst/>
                        </a:rPr>
                        <a:t>同時進出</a:t>
                      </a:r>
                      <a:r>
                        <a:rPr lang="en-US" altLang="zh-TW" sz="1200" dirty="0">
                          <a:effectLst/>
                        </a:rPr>
                        <a:t>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8338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通訊距離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1m - 100m+ (</a:t>
                      </a:r>
                      <a:r>
                        <a:rPr lang="zh-TW" altLang="en-US" sz="1200" dirty="0">
                          <a:effectLst/>
                        </a:rPr>
                        <a:t>視線材而定</a:t>
                      </a:r>
                      <a:r>
                        <a:rPr lang="en-US" altLang="zh-TW" sz="1200" dirty="0">
                          <a:effectLst/>
                        </a:rPr>
                        <a:t>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&lt; 0.5m (</a:t>
                      </a:r>
                      <a:r>
                        <a:rPr lang="zh-TW" altLang="en-US" sz="1200" dirty="0">
                          <a:effectLst/>
                        </a:rPr>
                        <a:t>嚴格限制</a:t>
                      </a:r>
                      <a:r>
                        <a:rPr lang="en-US" altLang="zh-TW" sz="1200" dirty="0">
                          <a:effectLst/>
                        </a:rPr>
                        <a:t>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僅限機箱內或專屬機櫃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86566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zh-TW" altLang="en-US" sz="1200">
                          <a:effectLst/>
                        </a:rPr>
                        <a:t>主要功能定位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外部網絡與集群擴充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zh-TW" altLang="en-US" sz="1200">
                          <a:effectLst/>
                        </a:rPr>
                        <a:t>板卡間 </a:t>
                      </a:r>
                      <a:r>
                        <a:rPr lang="en-US" altLang="zh-TW" sz="1200">
                          <a:effectLst/>
                        </a:rPr>
                        <a:t>(P2P) </a:t>
                      </a:r>
                      <a:r>
                        <a:rPr lang="zh-TW" altLang="en-US" sz="1200">
                          <a:effectLst/>
                        </a:rPr>
                        <a:t>極速互連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zh-TW" sz="1200" dirty="0">
                          <a:effectLst/>
                        </a:rPr>
                        <a:t>GPU </a:t>
                      </a:r>
                      <a:r>
                        <a:rPr lang="zh-TW" altLang="en-US" sz="1200" dirty="0">
                          <a:effectLst/>
                        </a:rPr>
                        <a:t>記憶體池化與集體運算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781258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114EBCBB-F8BB-0020-38CF-5EC752693045}"/>
              </a:ext>
            </a:extLst>
          </p:cNvPr>
          <p:cNvSpPr txBox="1"/>
          <p:nvPr/>
        </p:nvSpPr>
        <p:spPr>
          <a:xfrm>
            <a:off x="457200" y="286270"/>
            <a:ext cx="11274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Alveo V80 </a:t>
            </a:r>
            <a:r>
              <a:rPr lang="zh-TW" altLang="en-US" dirty="0"/>
              <a:t>互連方案與 </a:t>
            </a:r>
            <a:r>
              <a:rPr lang="en-US" altLang="zh-TW" dirty="0" err="1"/>
              <a:t>NVLink</a:t>
            </a:r>
            <a:r>
              <a:rPr lang="en-US" altLang="zh-TW" dirty="0"/>
              <a:t> </a:t>
            </a:r>
            <a:r>
              <a:rPr lang="zh-TW" altLang="en-US" dirty="0"/>
              <a:t>應用對照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F05D867-D6B7-FDEA-DB6E-B4A37AEC58C2}"/>
              </a:ext>
            </a:extLst>
          </p:cNvPr>
          <p:cNvSpPr txBox="1"/>
          <p:nvPr/>
        </p:nvSpPr>
        <p:spPr>
          <a:xfrm>
            <a:off x="87086" y="3017750"/>
            <a:ext cx="579991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sz="1200" b="1" dirty="0"/>
              <a:t>🛠 應用場景與使用時機</a:t>
            </a:r>
            <a:endParaRPr lang="en-US" altLang="zh-TW" sz="1200" b="1" dirty="0"/>
          </a:p>
          <a:p>
            <a:pPr>
              <a:buNone/>
            </a:pPr>
            <a:endParaRPr lang="zh-TW" altLang="en-US" sz="1200" b="1" dirty="0"/>
          </a:p>
          <a:p>
            <a:pPr marL="228600" indent="-228600">
              <a:buAutoNum type="arabicPeriod"/>
            </a:pPr>
            <a:r>
              <a:rPr lang="zh-TW" altLang="en-US" sz="1200" dirty="0"/>
              <a:t>使用 </a:t>
            </a:r>
            <a:r>
              <a:rPr lang="en-US" altLang="zh-TW" sz="1200" dirty="0"/>
              <a:t>QSFP56 </a:t>
            </a:r>
            <a:r>
              <a:rPr lang="zh-TW" altLang="en-US" sz="1200" dirty="0"/>
              <a:t>的時機 </a:t>
            </a:r>
            <a:r>
              <a:rPr lang="en-US" altLang="zh-TW" sz="1200" dirty="0"/>
              <a:t>(Network-Centric)</a:t>
            </a:r>
          </a:p>
          <a:p>
            <a:pPr marL="228600" indent="-228600">
              <a:buAutoNum type="arabicPeriod"/>
            </a:pPr>
            <a:endParaRPr lang="en-US" altLang="zh-TW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200" dirty="0"/>
              <a:t>跨機櫃連結： 當兩片 </a:t>
            </a:r>
            <a:r>
              <a:rPr lang="en-US" altLang="zh-TW" sz="1200" dirty="0"/>
              <a:t>V80 </a:t>
            </a:r>
            <a:r>
              <a:rPr lang="zh-TW" altLang="en-US" sz="1200" dirty="0"/>
              <a:t>距離超過一個機架時，必須使用光纖透過 </a:t>
            </a:r>
            <a:r>
              <a:rPr lang="en-US" altLang="zh-TW" sz="1200" dirty="0"/>
              <a:t>QSFP56 </a:t>
            </a:r>
            <a:r>
              <a:rPr lang="zh-TW" altLang="en-US" sz="1200" dirty="0"/>
              <a:t>連接。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200" dirty="0"/>
              <a:t>標準網絡開發： 實作 </a:t>
            </a:r>
            <a:r>
              <a:rPr lang="en-US" altLang="zh-TW" sz="1200" dirty="0"/>
              <a:t>100G/200G </a:t>
            </a:r>
            <a:r>
              <a:rPr lang="en-US" altLang="zh-TW" sz="1200" dirty="0" err="1"/>
              <a:t>SmartNIC</a:t>
            </a:r>
            <a:r>
              <a:rPr lang="zh-TW" altLang="en-US" sz="1200" dirty="0"/>
              <a:t>、防火牆、或 </a:t>
            </a:r>
            <a:r>
              <a:rPr lang="en-US" altLang="zh-TW" sz="1200" dirty="0" err="1"/>
              <a:t>OpenNIC</a:t>
            </a:r>
            <a:r>
              <a:rPr lang="en-US" altLang="zh-TW" sz="1200" dirty="0"/>
              <a:t> </a:t>
            </a:r>
            <a:r>
              <a:rPr lang="zh-TW" altLang="en-US" sz="1200" dirty="0"/>
              <a:t>專案時。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200" dirty="0"/>
              <a:t>高相容性需求： 需要透過傳統交換機 </a:t>
            </a:r>
            <a:r>
              <a:rPr lang="en-US" altLang="zh-TW" sz="1200" dirty="0"/>
              <a:t>(Switch) </a:t>
            </a:r>
            <a:r>
              <a:rPr lang="zh-TW" altLang="en-US" sz="1200" dirty="0"/>
              <a:t>與其他伺服器通訊。</a:t>
            </a:r>
            <a:endParaRPr lang="en-US" altLang="zh-TW" sz="1200" dirty="0"/>
          </a:p>
          <a:p>
            <a:pPr>
              <a:buFont typeface="Arial" panose="020B0604020202020204" pitchFamily="34" charset="0"/>
              <a:buChar char="•"/>
            </a:pPr>
            <a:endParaRPr lang="zh-TW" altLang="en-US" sz="1200" dirty="0"/>
          </a:p>
          <a:p>
            <a:pPr>
              <a:buNone/>
            </a:pPr>
            <a:r>
              <a:rPr lang="en-US" altLang="zh-TW" sz="1200" dirty="0"/>
              <a:t>2. </a:t>
            </a:r>
            <a:r>
              <a:rPr lang="zh-TW" altLang="en-US" sz="1200" dirty="0"/>
              <a:t>使用 </a:t>
            </a:r>
            <a:r>
              <a:rPr lang="en-US" altLang="zh-TW" sz="1200" dirty="0"/>
              <a:t>MCIO </a:t>
            </a:r>
            <a:r>
              <a:rPr lang="zh-TW" altLang="en-US" sz="1200" dirty="0"/>
              <a:t>的時機 </a:t>
            </a:r>
            <a:r>
              <a:rPr lang="en-US" altLang="zh-TW" sz="1200" dirty="0"/>
              <a:t>(Compute-Centric)</a:t>
            </a:r>
          </a:p>
          <a:p>
            <a:pPr>
              <a:buNone/>
            </a:pPr>
            <a:endParaRPr lang="en-US" altLang="zh-TW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200" dirty="0"/>
              <a:t>類 </a:t>
            </a:r>
            <a:r>
              <a:rPr lang="en-US" altLang="zh-TW" sz="1200" dirty="0" err="1"/>
              <a:t>NVLink</a:t>
            </a:r>
            <a:r>
              <a:rPr lang="en-US" altLang="zh-TW" sz="1200" dirty="0"/>
              <a:t> </a:t>
            </a:r>
            <a:r>
              <a:rPr lang="zh-TW" altLang="en-US" sz="1200" dirty="0"/>
              <a:t>實作： 在兩片 </a:t>
            </a:r>
            <a:r>
              <a:rPr lang="en-US" altLang="zh-TW" sz="1200" dirty="0"/>
              <a:t>V80 </a:t>
            </a:r>
            <a:r>
              <a:rPr lang="zh-TW" altLang="en-US" sz="1200" dirty="0"/>
              <a:t>之間建立「私有高速公路」，不經過主機 </a:t>
            </a:r>
            <a:r>
              <a:rPr lang="en-US" altLang="zh-TW" sz="1200" dirty="0"/>
              <a:t>CPU</a:t>
            </a:r>
            <a:r>
              <a:rPr lang="zh-TW" altLang="en-US" sz="1200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200" dirty="0"/>
              <a:t>低延遲同步： 需要極低延遲（</a:t>
            </a:r>
            <a:r>
              <a:rPr lang="en-US" altLang="zh-TW" sz="1200" dirty="0"/>
              <a:t>Nanoseconds </a:t>
            </a:r>
            <a:r>
              <a:rPr lang="zh-TW" altLang="en-US" sz="1200" dirty="0"/>
              <a:t>等級）的狀態同步，</a:t>
            </a:r>
            <a:br>
              <a:rPr lang="en-US" altLang="zh-TW" sz="1200" dirty="0"/>
            </a:br>
            <a:r>
              <a:rPr lang="en-US" altLang="zh-TW" sz="1200" dirty="0"/>
              <a:t>                                </a:t>
            </a:r>
            <a:r>
              <a:rPr lang="zh-TW" altLang="en-US" sz="1200" dirty="0"/>
              <a:t>例如 </a:t>
            </a:r>
            <a:r>
              <a:rPr lang="en-US" altLang="zh-TW" sz="1200" dirty="0"/>
              <a:t>HFT </a:t>
            </a:r>
            <a:r>
              <a:rPr lang="zh-TW" altLang="en-US" sz="1200" dirty="0"/>
              <a:t>高頻交易或即時訊號處理。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200" dirty="0"/>
              <a:t>拓撲擴充：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200" dirty="0"/>
              <a:t>2</a:t>
            </a:r>
            <a:r>
              <a:rPr lang="zh-TW" altLang="en-US" sz="1200" dirty="0"/>
              <a:t>張卡： 用 </a:t>
            </a:r>
            <a:r>
              <a:rPr lang="en-US" altLang="zh-TW" sz="1200" dirty="0"/>
              <a:t>MCIO x8 </a:t>
            </a:r>
            <a:r>
              <a:rPr lang="zh-TW" altLang="en-US" sz="1200" dirty="0"/>
              <a:t>互連（最寬頻寬）。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200" dirty="0"/>
              <a:t>4</a:t>
            </a:r>
            <a:r>
              <a:rPr lang="zh-TW" altLang="en-US" sz="1200" dirty="0"/>
              <a:t>張卡以上： 用 </a:t>
            </a:r>
            <a:r>
              <a:rPr lang="en-US" altLang="zh-TW" sz="1200" dirty="0"/>
              <a:t>2x MCIO x4 </a:t>
            </a:r>
            <a:r>
              <a:rPr lang="zh-TW" altLang="en-US" sz="1200" dirty="0"/>
              <a:t>組成「環狀 </a:t>
            </a:r>
            <a:r>
              <a:rPr lang="en-US" altLang="zh-TW" sz="1200" dirty="0"/>
              <a:t>(Ring)</a:t>
            </a:r>
            <a:r>
              <a:rPr lang="zh-TW" altLang="en-US" sz="1200" dirty="0"/>
              <a:t>」或「網格 </a:t>
            </a:r>
            <a:r>
              <a:rPr lang="en-US" altLang="zh-TW" sz="1200" dirty="0"/>
              <a:t>(Mesh)</a:t>
            </a:r>
            <a:r>
              <a:rPr lang="zh-TW" altLang="en-US" sz="1200" dirty="0"/>
              <a:t>」拓撲。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B13C186-4DF7-4CE7-FEFE-9A4EE5282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622" y="3017750"/>
            <a:ext cx="608729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 sz="1200" b="1" dirty="0"/>
              <a:t>🛠 </a:t>
            </a:r>
            <a:r>
              <a:rPr lang="zh-TW" altLang="en-US" sz="1200" b="1" dirty="0">
                <a:latin typeface="+mn-ea"/>
              </a:rPr>
              <a:t>與 </a:t>
            </a:r>
            <a:r>
              <a:rPr lang="en-US" altLang="zh-TW" sz="1200" b="1" dirty="0" err="1">
                <a:latin typeface="+mn-ea"/>
              </a:rPr>
              <a:t>NVLink</a:t>
            </a:r>
            <a:r>
              <a:rPr lang="en-US" altLang="zh-TW" sz="1200" b="1" dirty="0">
                <a:latin typeface="+mn-ea"/>
              </a:rPr>
              <a:t> </a:t>
            </a:r>
            <a:r>
              <a:rPr lang="zh-TW" altLang="en-US" sz="1200" b="1" dirty="0">
                <a:latin typeface="+mn-ea"/>
              </a:rPr>
              <a:t>的關鍵差別</a:t>
            </a:r>
            <a:endParaRPr lang="en-US" altLang="zh-TW" sz="1200" b="1" dirty="0">
              <a:latin typeface="+mn-ea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TW" sz="1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1200" dirty="0">
                <a:latin typeface="Arial" panose="020B0604020202020204" pitchFamily="34" charset="0"/>
              </a:rPr>
              <a:t>a.</a:t>
            </a:r>
            <a:r>
              <a:rPr kumimoji="0" lang="zh-TW" altLang="zh-TW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記憶體語義 (Memory Semantics)：</a:t>
            </a:r>
            <a:endParaRPr kumimoji="0" lang="en-US" altLang="zh-TW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zh-TW" altLang="zh-TW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NVLink： 硬體層支援 Load/Store，程式碼直接改寫變數，數據就在對面 GPU 更新了。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V80 (MCIO)： 預設是傳輸層級。若要達到 NVLink 效果，您必須在 FPGA 內實作 DMA 或 RDMA 邏輯。</a:t>
            </a:r>
            <a:endParaRPr kumimoji="0" lang="en-US" altLang="zh-TW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TW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b.</a:t>
            </a:r>
            <a:r>
              <a:rPr kumimoji="0" lang="zh-TW" altLang="zh-TW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軟體生態：</a:t>
            </a:r>
            <a:endParaRPr kumimoji="0" lang="en-US" altLang="zh-TW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TW" altLang="zh-TW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NVLink： 透過 NCCL 自動調度，對開發者透明。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V80 (QSFP/MCIO)： 靈活性極高，但需要工程師手動定義通訊協議（如走 Aurora 還是自訂封裝）。</a:t>
            </a:r>
            <a:endParaRPr kumimoji="0" lang="en-US" altLang="zh-TW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TW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c.</a:t>
            </a:r>
            <a:r>
              <a:rPr kumimoji="0" lang="zh-TW" altLang="zh-TW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封閉 vs. 開放：</a:t>
            </a:r>
            <a:endParaRPr kumimoji="0" lang="en-US" altLang="zh-TW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TW" altLang="zh-TW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NVLink 是封閉黑盒；V80 的 MCIO 則是給 FPGA 工程師的畫布，您可以自定義流控、重傳機制與緩衝管理。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E71760A4-C504-4508-C9C3-18D37440F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246" y="146931"/>
            <a:ext cx="4563291" cy="279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675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493</Words>
  <Application>Microsoft Office PowerPoint</Application>
  <PresentationFormat>寬螢幕</PresentationFormat>
  <Paragraphs>59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 Lu</dc:creator>
  <cp:lastModifiedBy>Leon Lu</cp:lastModifiedBy>
  <cp:revision>10</cp:revision>
  <dcterms:created xsi:type="dcterms:W3CDTF">2026-04-09T01:35:08Z</dcterms:created>
  <dcterms:modified xsi:type="dcterms:W3CDTF">2026-04-09T02:26:29Z</dcterms:modified>
</cp:coreProperties>
</file>